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</p:sldIdLst>
  <p:sldSz cx="18288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5760"/>
        <p:guide pos="57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98200" y="2438400"/>
            <a:ext cx="14698800" cy="6854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2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798200" y="9494400"/>
            <a:ext cx="14698800" cy="3926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800" spc="2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12600" y="3974400"/>
            <a:ext cx="16453800" cy="12691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986200" y="10262400"/>
            <a:ext cx="11653200" cy="2044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986200" y="12307200"/>
            <a:ext cx="11653200" cy="2313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14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912600" y="4003200"/>
            <a:ext cx="7765200" cy="12662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617400" y="4003200"/>
            <a:ext cx="7765200" cy="12662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912600" y="3811200"/>
            <a:ext cx="8013600" cy="1017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12600" y="4944000"/>
            <a:ext cx="8013600" cy="11721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9353625" y="3791277"/>
            <a:ext cx="8013600" cy="1017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9353625" y="4944000"/>
            <a:ext cx="8013600" cy="11721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912600" y="4147200"/>
            <a:ext cx="7849616" cy="1228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9525600" y="4147200"/>
            <a:ext cx="7840800" cy="1228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2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5352200" y="2438400"/>
            <a:ext cx="1566000" cy="13411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56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371600" y="2438400"/>
            <a:ext cx="13753800" cy="13411200"/>
          </a:xfrm>
        </p:spPr>
        <p:txBody>
          <a:bodyPr vert="eaVert" lIns="46800" tIns="46800" rIns="46800" bIns="46800"/>
          <a:lstStyle>
            <a:lvl1pPr marL="457200" indent="-457200">
              <a:spcAft>
                <a:spcPts val="1000"/>
              </a:spcAft>
              <a:defRPr spc="300"/>
            </a:lvl1pPr>
            <a:lvl2pPr marL="1371600" indent="-457200">
              <a:defRPr spc="300"/>
            </a:lvl2pPr>
            <a:lvl3pPr marL="2286000" indent="-457200">
              <a:defRPr spc="300"/>
            </a:lvl3pPr>
            <a:lvl4pPr marL="3200400" indent="-457200">
              <a:defRPr spc="300"/>
            </a:lvl4pPr>
            <a:lvl5pPr marL="4114800" indent="-4572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12600" y="2064000"/>
            <a:ext cx="16459200" cy="14620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798200" y="6624000"/>
            <a:ext cx="14698800" cy="2716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2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798200" y="9494400"/>
            <a:ext cx="14698800" cy="1257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8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912600" y="1622400"/>
            <a:ext cx="16453800" cy="1881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912600" y="3974400"/>
            <a:ext cx="16453800" cy="12691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918000" y="16838400"/>
            <a:ext cx="405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6174000" y="16838400"/>
            <a:ext cx="594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13316400" y="16838400"/>
            <a:ext cx="405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72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219450" algn="l"/>
          <a:tab pos="3219450" algn="l"/>
          <a:tab pos="3219450" algn="l"/>
          <a:tab pos="3219450" algn="l"/>
        </a:tabLst>
        <a:defRPr sz="3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77.xml"/><Relationship Id="rId7" Type="http://schemas.openxmlformats.org/officeDocument/2006/relationships/image" Target="../media/image3.jpeg"/><Relationship Id="rId6" Type="http://schemas.openxmlformats.org/officeDocument/2006/relationships/image" Target="../media/image2.jpe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320" y="2438400"/>
            <a:ext cx="14698980" cy="2673985"/>
          </a:xfrm>
        </p:spPr>
        <p:txBody>
          <a:bodyPr>
            <a:normAutofit/>
          </a:bodyPr>
          <a:p>
            <a:r>
              <a:rPr lang="en-US" altLang="en-US" sz="6000"/>
              <a:t>HOTEL MANAGEMENT AND HOSPITALITY</a:t>
            </a:r>
            <a:endParaRPr lang="en-US" alt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320" y="5978525"/>
            <a:ext cx="15441930" cy="12308840"/>
          </a:xfrm>
        </p:spPr>
        <p:txBody>
          <a:bodyPr>
            <a:noAutofit/>
          </a:bodyPr>
          <a:p>
            <a:r>
              <a:rPr lang="en-US" altLang="en-US" sz="4000" b="1"/>
              <a:t>Database Programming Capstone Project</a:t>
            </a:r>
            <a:endParaRPr lang="en-US" altLang="en-US" sz="4000" b="1"/>
          </a:p>
          <a:p>
            <a:endParaRPr lang="en-US" altLang="en-US" sz="4000"/>
          </a:p>
          <a:p>
            <a:r>
              <a:rPr lang="en-US" altLang="en-US" sz="4000" b="1"/>
              <a:t>PRESENTED</a:t>
            </a:r>
            <a:r>
              <a:rPr lang="en-US" altLang="en-US" sz="4000"/>
              <a:t> BY Umutoni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STUDENT ID 32378/2025</a:t>
            </a:r>
            <a:endParaRPr lang="en-US" altLang="en-US" sz="4000" b="1"/>
          </a:p>
          <a:p>
            <a:endParaRPr lang="en-US" altLang="en-US" sz="4000"/>
          </a:p>
          <a:p>
            <a:r>
              <a:rPr lang="en-US" altLang="en-US" sz="4000" b="1"/>
              <a:t>COURSE </a:t>
            </a:r>
            <a:r>
              <a:rPr lang="en-US" altLang="en-US" sz="4000"/>
              <a:t>DPR400210 – Database Programming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INSTITUTION</a:t>
            </a:r>
            <a:r>
              <a:rPr lang="en-US" altLang="en-US" sz="4000"/>
              <a:t> University of Lay Adventist of Kigali (UNILAK)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FACULTY</a:t>
            </a:r>
            <a:r>
              <a:rPr lang="en-US" altLang="en-US" sz="4000"/>
              <a:t> Faculty of Computing and Information Science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ACADEMIC YEAR</a:t>
            </a:r>
            <a:r>
              <a:rPr lang="en-US" altLang="en-US" sz="4000"/>
              <a:t>  2025–2026</a:t>
            </a:r>
            <a:endParaRPr lang="en-US" altLang="en-US" sz="40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0" y="0"/>
            <a:ext cx="18288635" cy="1828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800" b="1"/>
              <a:t>Introduction 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endParaRPr lang="en-US" altLang="en-US" sz="4800"/>
          </a:p>
          <a:p>
            <a:pPr algn="ctr"/>
            <a:r>
              <a:rPr lang="en-US" altLang="en-US" sz="4800" b="1"/>
              <a:t>Background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.Hotels manage guests, reservations, rooms, payments, and staff activities daily.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.Many hotels still rely on manual records and spreadsheets.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.This results in delays, billing errors, and poor room tracking.</a:t>
            </a:r>
            <a:endParaRPr lang="en-US" altLang="en-US" sz="4800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Project Goal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r>
              <a:rPr lang="en-US" altLang="en-US" sz="4800"/>
              <a:t>To design and implement a Microsoft SQL Server database system that automates:</a:t>
            </a:r>
            <a:endParaRPr lang="en-US" altLang="en-US" sz="4800"/>
          </a:p>
          <a:p>
            <a:pPr algn="ctr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Guest management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Room reservations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Check-in and check-out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Billing and payments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Staff assignments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Service requests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Management reporting</a:t>
            </a:r>
            <a:endParaRPr lang="en-US" sz="48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70" y="0"/>
            <a:ext cx="18286730" cy="1828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4800"/>
          </a:p>
          <a:p>
            <a:endParaRPr lang="en-US" sz="4800"/>
          </a:p>
          <a:p>
            <a:endParaRPr lang="en-US" sz="4800"/>
          </a:p>
          <a:p>
            <a:pPr algn="ctr"/>
            <a:r>
              <a:rPr lang="en-US" altLang="en-US" sz="4800" b="1"/>
              <a:t>WHY THIS MATTERS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Problem Statement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r>
              <a:rPr lang="en-US" altLang="en-US" sz="4800"/>
              <a:t> Hotels and hospitality businesses often manage operations       manually.</a:t>
            </a:r>
            <a:endParaRPr lang="en-US" altLang="en-US" sz="4800"/>
          </a:p>
          <a:p>
            <a:endParaRPr lang="en-US" altLang="en-US" sz="4800"/>
          </a:p>
          <a:p>
            <a:r>
              <a:rPr lang="en-US" altLang="en-US" sz="4800" b="1"/>
              <a:t>Key Issues</a:t>
            </a:r>
            <a:endParaRPr lang="en-US" altLang="en-US" sz="4800" b="1"/>
          </a:p>
          <a:p>
            <a:endParaRPr lang="en-US" altLang="en-US" sz="4800" b="1"/>
          </a:p>
          <a:p>
            <a:endParaRPr lang="en-US" altLang="en-US" sz="4800" b="1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Double booking of rooms.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Incorrect billing and payment records.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Difficulty tracking room availability.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Delays during check-in and check-out.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Limited reporting and business analysis.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No automated enforcement of business rules.</a:t>
            </a:r>
            <a:endParaRPr lang="en-US" altLang="en-US" sz="48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0200" y="555625"/>
            <a:ext cx="17958435" cy="17731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800" b="1"/>
              <a:t>WHO IT'S FOR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Target Users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 b="1"/>
          </a:p>
          <a:p>
            <a:pPr algn="l"/>
            <a:r>
              <a:rPr lang="en-US" altLang="en-US" sz="4800" b="1"/>
              <a:t>1. Guests  </a:t>
            </a:r>
            <a:r>
              <a:rPr lang="en-US" altLang="en-US" sz="4800"/>
              <a:t> </a:t>
            </a:r>
            <a:endParaRPr lang="en-US" altLang="en-US" sz="4800"/>
          </a:p>
          <a:p>
            <a:pPr algn="l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Make reservations.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Request hotel services.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Track their bookings and payments.</a:t>
            </a:r>
            <a:endParaRPr lang="en-US" altLang="en-US" sz="4800"/>
          </a:p>
          <a:p>
            <a:pPr algn="l"/>
            <a:endParaRPr lang="en-US" altLang="en-US" sz="4800"/>
          </a:p>
          <a:p>
            <a:pPr algn="l"/>
            <a:r>
              <a:rPr lang="en-US" altLang="en-US" sz="4800" b="1"/>
              <a:t>2. Receptionists and Staff</a:t>
            </a:r>
            <a:endParaRPr lang="en-US" altLang="en-US" sz="4800" b="1"/>
          </a:p>
          <a:p>
            <a:pPr algn="l"/>
            <a:endParaRPr lang="en-US" altLang="en-US" sz="48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Register guests.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Manage reservations.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Process check-ins and check-outs.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Generate bills and payments.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algn="l"/>
            <a:r>
              <a:rPr lang="en-US" altLang="en-US" sz="4800" b="1"/>
              <a:t>3. Hotel Managers</a:t>
            </a:r>
            <a:endParaRPr lang="en-US" altLang="en-US" sz="4800" b="1"/>
          </a:p>
          <a:p>
            <a:pPr algn="l"/>
            <a:endParaRPr lang="en-US" altLang="en-US" sz="48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Monitor hotel performance.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Analyze revenue and occupancy rates.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Generate operational reports.</a:t>
            </a:r>
            <a:endParaRPr lang="en-US" sz="48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495" y="695325"/>
            <a:ext cx="16453485" cy="3279140"/>
          </a:xfrm>
        </p:spPr>
        <p:txBody>
          <a:bodyPr>
            <a:normAutofit fontScale="90000"/>
          </a:bodyPr>
          <a:p>
            <a:r>
              <a:rPr lang="en-US" altLang="en-US" b="1"/>
              <a:t>DATABASE DESIGN</a:t>
            </a:r>
            <a:br>
              <a:rPr lang="en-US" altLang="en-US" b="1"/>
            </a:br>
            <a:br>
              <a:rPr lang="en-US" altLang="en-US"/>
            </a:br>
            <a:r>
              <a:rPr lang="en-US" altLang="en-US" sz="4890"/>
              <a:t>Entity Relationship Diagram (ERD)</a:t>
            </a:r>
            <a:br>
              <a:rPr lang="en-US" altLang="en-US" sz="4890"/>
            </a:br>
            <a:r>
              <a:rPr lang="en-US" altLang="en-US" sz="4890"/>
              <a:t>MAIN TABLES (3NF NORMALIZED)</a:t>
            </a:r>
            <a:endParaRPr lang="en-US" altLang="en-US" sz="489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495" y="3974465"/>
            <a:ext cx="16453485" cy="14314170"/>
          </a:xfrm>
        </p:spPr>
        <p:txBody>
          <a:bodyPr>
            <a:normAutofit fontScale="25000"/>
          </a:bodyPr>
          <a:p>
            <a:r>
              <a:rPr lang="en-US" altLang="en-US" sz="11200"/>
              <a:t>Guest</a:t>
            </a:r>
            <a:endParaRPr lang="en-US" altLang="en-US" sz="11200"/>
          </a:p>
          <a:p>
            <a:r>
              <a:rPr lang="en-US" altLang="en-US" sz="11200"/>
              <a:t>RoomType</a:t>
            </a:r>
            <a:endParaRPr lang="en-US" altLang="en-US" sz="11200"/>
          </a:p>
          <a:p>
            <a:r>
              <a:rPr lang="en-US" altLang="en-US" sz="11200"/>
              <a:t>Room</a:t>
            </a:r>
            <a:endParaRPr lang="en-US" altLang="en-US" sz="11200"/>
          </a:p>
          <a:p>
            <a:r>
              <a:rPr lang="en-US" altLang="en-US" sz="11200"/>
              <a:t>Reservation</a:t>
            </a:r>
            <a:endParaRPr lang="en-US" altLang="en-US" sz="11200"/>
          </a:p>
          <a:p>
            <a:r>
              <a:rPr lang="en-US" altLang="en-US" sz="11200"/>
              <a:t>CheckInOut</a:t>
            </a:r>
            <a:endParaRPr lang="en-US" altLang="en-US" sz="11200"/>
          </a:p>
          <a:p>
            <a:r>
              <a:rPr lang="en-US" altLang="en-US" sz="11200"/>
              <a:t>Bill</a:t>
            </a:r>
            <a:endParaRPr lang="en-US" altLang="en-US" sz="11200"/>
          </a:p>
          <a:p>
            <a:r>
              <a:rPr lang="en-US" altLang="en-US" sz="11200"/>
              <a:t>Payment</a:t>
            </a:r>
            <a:endParaRPr lang="en-US" altLang="en-US" sz="11200"/>
          </a:p>
          <a:p>
            <a:r>
              <a:rPr lang="en-US" altLang="en-US" sz="11200"/>
              <a:t>Staff</a:t>
            </a:r>
            <a:endParaRPr lang="en-US" altLang="en-US" sz="11200"/>
          </a:p>
          <a:p>
            <a:r>
              <a:rPr lang="en-US" altLang="en-US" sz="11200"/>
              <a:t>StaffAssignment               </a:t>
            </a:r>
            <a:endParaRPr lang="en-US" altLang="en-US" sz="11200"/>
          </a:p>
          <a:p>
            <a:r>
              <a:rPr lang="en-US" altLang="en-US" sz="11200"/>
              <a:t>ServiceRequest</a:t>
            </a:r>
            <a:endParaRPr lang="en-US" altLang="en-US" sz="11200"/>
          </a:p>
          <a:p>
            <a:r>
              <a:rPr lang="en-US" altLang="en-US" sz="11200"/>
              <a:t>LoyaltyProgram</a:t>
            </a:r>
            <a:endParaRPr lang="en-US" altLang="en-US" sz="11200"/>
          </a:p>
          <a:p>
            <a:endParaRPr lang="en-US" altLang="en-US" sz="11200"/>
          </a:p>
          <a:p>
            <a:pPr marL="0" indent="0">
              <a:buNone/>
            </a:pPr>
            <a:r>
              <a:rPr lang="en-US" altLang="en-US" sz="19200" b="1"/>
              <a:t>Relationships</a:t>
            </a:r>
            <a:endParaRPr lang="en-US" altLang="en-US" sz="19200" b="1"/>
          </a:p>
          <a:p>
            <a:pPr marL="0" indent="0">
              <a:buNone/>
            </a:pPr>
            <a:endParaRPr lang="en-US" altLang="en-US" sz="11200" b="1"/>
          </a:p>
          <a:p>
            <a:r>
              <a:rPr lang="en-US" altLang="en-US" sz="11200"/>
              <a:t>Guest 1 Reservation</a:t>
            </a:r>
            <a:endParaRPr lang="en-US" altLang="en-US" sz="11200"/>
          </a:p>
          <a:p>
            <a:r>
              <a:rPr lang="en-US" altLang="en-US" sz="11200"/>
              <a:t>RoomType 1 Room</a:t>
            </a:r>
            <a:endParaRPr lang="en-US" altLang="en-US" sz="11200"/>
          </a:p>
          <a:p>
            <a:r>
              <a:rPr lang="en-US" altLang="en-US" sz="11200"/>
              <a:t>Room 1 Reservation</a:t>
            </a:r>
            <a:endParaRPr lang="en-US" altLang="en-US" sz="11200"/>
          </a:p>
          <a:p>
            <a:r>
              <a:rPr lang="en-US" altLang="en-US" sz="11200"/>
              <a:t>Reservation 1:1 Bill</a:t>
            </a:r>
            <a:endParaRPr lang="en-US" altLang="en-US" sz="11200"/>
          </a:p>
          <a:p>
            <a:r>
              <a:rPr lang="en-US" altLang="en-US" sz="11200"/>
              <a:t>Bill 1 Payment</a:t>
            </a:r>
            <a:endParaRPr lang="en-US" altLang="en-US" sz="11200"/>
          </a:p>
          <a:p>
            <a:r>
              <a:rPr lang="en-US" altLang="en-US" sz="11200"/>
              <a:t>Staff 1 StaffAssignment</a:t>
            </a:r>
            <a:endParaRPr lang="en-US" altLang="en-US" sz="11200"/>
          </a:p>
        </p:txBody>
      </p:sp>
      <p:pic>
        <p:nvPicPr>
          <p:cNvPr id="6" name="Picture 5" descr="ER D diagram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05" y="4815840"/>
            <a:ext cx="103632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IMPLEMENTATION</a:t>
            </a:r>
            <a:br>
              <a:rPr lang="en-US" altLang="en-US"/>
            </a:br>
            <a:r>
              <a:rPr lang="en-US" altLang="en-US" sz="4890" b="1"/>
              <a:t>Database Tables and Constraints</a:t>
            </a:r>
            <a:endParaRPr lang="en-US" altLang="en-US" sz="4890" b="1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2495" y="3811270"/>
            <a:ext cx="8013700" cy="3917950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495" y="7729220"/>
            <a:ext cx="8013700" cy="12183745"/>
          </a:xfrm>
        </p:spPr>
        <p:txBody>
          <a:bodyPr/>
          <a:p>
            <a:pPr marL="0" indent="0">
              <a:buNone/>
            </a:pPr>
            <a:r>
              <a:rPr lang="en-US" altLang="en-US" sz="4800" b="1"/>
              <a:t> Example Tables</a:t>
            </a:r>
            <a:endParaRPr lang="en-US" altLang="en-US" sz="4800" b="1"/>
          </a:p>
          <a:p>
            <a:r>
              <a:rPr lang="en-US" altLang="en-US"/>
              <a:t>Guest</a:t>
            </a:r>
            <a:endParaRPr lang="en-US" altLang="en-US"/>
          </a:p>
          <a:p>
            <a:r>
              <a:rPr lang="en-US" altLang="en-US"/>
              <a:t>Room</a:t>
            </a:r>
            <a:endParaRPr lang="en-US" altLang="en-US"/>
          </a:p>
          <a:p>
            <a:r>
              <a:rPr lang="en-US" altLang="en-US"/>
              <a:t>Reservation</a:t>
            </a:r>
            <a:endParaRPr lang="en-US" altLang="en-US"/>
          </a:p>
          <a:p>
            <a:r>
              <a:rPr lang="en-US" altLang="en-US"/>
              <a:t>Payment</a:t>
            </a:r>
            <a:endParaRPr lang="en-US" altLang="en-US"/>
          </a:p>
          <a:p>
            <a:r>
              <a:rPr lang="en-US" altLang="en-US"/>
              <a:t>Staff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911860" y="3811270"/>
            <a:ext cx="16455390" cy="2969260"/>
          </a:xfrm>
        </p:spPr>
        <p:txBody>
          <a:bodyPr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Primary Keys for unique identification.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Foreign Keys for relationships.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CHECK constraints for validation.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UNIQUE constraints for important fields.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DEFAULT values for statuses and dates.</a:t>
            </a:r>
            <a:endParaRPr lang="en-US" altLang="en-US" sz="3100"/>
          </a:p>
        </p:txBody>
      </p:sp>
      <p:pic>
        <p:nvPicPr>
          <p:cNvPr id="15" name="Content Placeholder 14" descr="create table guest"/>
          <p:cNvPicPr>
            <a:picLocks noChangeAspect="1"/>
          </p:cNvPicPr>
          <p:nvPr>
            <p:ph sz="quarter" idx="4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28285" y="9009380"/>
            <a:ext cx="6255385" cy="2524760"/>
          </a:xfrm>
          <a:prstGeom prst="rect">
            <a:avLst/>
          </a:prstGeom>
        </p:spPr>
      </p:pic>
      <p:pic>
        <p:nvPicPr>
          <p:cNvPr id="16" name="Picture 15" descr="create table paym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7155" y="12571095"/>
            <a:ext cx="6406515" cy="299339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8286730" cy="17830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6000" b="1"/>
              <a:t>BUSINESS LOGIC</a:t>
            </a:r>
            <a:endParaRPr lang="en-US" altLang="en-US" sz="6000" b="1"/>
          </a:p>
          <a:p>
            <a:pPr algn="ctr"/>
            <a:endParaRPr lang="en-US" altLang="en-US" sz="6000"/>
          </a:p>
          <a:p>
            <a:pPr algn="l"/>
            <a:r>
              <a:rPr lang="en-US" altLang="en-US" sz="6000" b="1"/>
              <a:t>SQL Server Implementation</a:t>
            </a:r>
            <a:endParaRPr lang="en-US" altLang="en-US" sz="6000" b="1"/>
          </a:p>
          <a:p>
            <a:endParaRPr lang="en-US" altLang="en-US" sz="6000"/>
          </a:p>
          <a:p>
            <a:pPr algn="l"/>
            <a:r>
              <a:rPr lang="en-US" altLang="en-US" sz="5400" b="1"/>
              <a:t>Stored Procedures</a:t>
            </a:r>
            <a:endParaRPr lang="en-US" altLang="en-US" sz="5400" b="1"/>
          </a:p>
          <a:p>
            <a:pPr algn="ctr"/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sp_CreateReservation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sp_GenerateBill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sp_ProcessPayment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sp_Hotel_Dashboard_Report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indent="0" algn="l">
              <a:buNone/>
            </a:pPr>
            <a:r>
              <a:rPr lang="en-US" altLang="en-US" sz="5400" b="1"/>
              <a:t>Functions</a:t>
            </a:r>
            <a:endParaRPr lang="en-US" altLang="en-US" sz="5400" b="1"/>
          </a:p>
          <a:p>
            <a:pPr indent="0" algn="l">
              <a:buNone/>
            </a:pPr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fn_TotalBill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fn_OccupancyRate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fn_DiscountCalculation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indent="0" algn="l">
              <a:buNone/>
            </a:pPr>
            <a:r>
              <a:rPr lang="en-US" altLang="en-US" sz="5400" b="1"/>
              <a:t>Triggers</a:t>
            </a:r>
            <a:endParaRPr lang="en-US" altLang="en-US" sz="5400" b="1"/>
          </a:p>
          <a:p>
            <a:pPr indent="0" algn="l">
              <a:buNone/>
            </a:pPr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Prevent double booking.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Update room status automatically.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Audit important changes.</a:t>
            </a:r>
            <a:endParaRPr lang="en-US" altLang="en-US" sz="48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" y="232410"/>
            <a:ext cx="18288000" cy="18288000"/>
          </a:xfrm>
          <a:prstGeom prst="rect">
            <a:avLst/>
          </a:prstGeom>
        </p:spPr>
        <p:txBody>
          <a:bodyPr>
            <a:noAutofit/>
          </a:bodyPr>
          <a:p>
            <a:pPr algn="ctr">
              <a:spcAft>
                <a:spcPct val="60000"/>
              </a:spcAft>
            </a:pPr>
            <a:r>
              <a:rPr sz="6000" b="1"/>
              <a:t>VERIFICATION</a:t>
            </a:r>
            <a:endParaRPr sz="6000" b="1"/>
          </a:p>
          <a:p>
            <a:pPr>
              <a:spcAft>
                <a:spcPct val="60000"/>
              </a:spcAft>
            </a:pPr>
            <a:r>
              <a:rPr sz="5400" b="1"/>
              <a:t>Testing and Results</a:t>
            </a:r>
            <a:endParaRPr sz="5400" b="1"/>
          </a:p>
          <a:p>
            <a:pPr>
              <a:spcAft>
                <a:spcPct val="60000"/>
              </a:spcAft>
            </a:pPr>
            <a:r>
              <a:rPr sz="5400" b="1"/>
              <a:t>Sample Data Inserted</a:t>
            </a:r>
            <a:endParaRPr sz="5400" b="1"/>
          </a:p>
          <a:p>
            <a:pPr>
              <a:buFont typeface="Arial" panose="020B0604020202020204"/>
              <a:buChar char="•"/>
            </a:pPr>
            <a:r>
              <a:rPr sz="4800"/>
              <a:t>Guests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Rooms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Reservations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Payments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Staff records</a:t>
            </a: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>
              <a:spcAft>
                <a:spcPct val="60000"/>
              </a:spcAft>
            </a:pPr>
            <a:r>
              <a:rPr sz="5400" b="1"/>
              <a:t>Tests Performed</a:t>
            </a:r>
            <a:endParaRPr sz="5400" b="1"/>
          </a:p>
          <a:p>
            <a:r>
              <a:rPr sz="4800"/>
              <a:t>✔ Reservation creation</a:t>
            </a:r>
            <a:endParaRPr sz="4800"/>
          </a:p>
          <a:p>
            <a:r>
              <a:rPr sz="4800"/>
              <a:t>✔ Payment processing</a:t>
            </a:r>
            <a:endParaRPr sz="4800"/>
          </a:p>
          <a:p>
            <a:r>
              <a:rPr sz="4800"/>
              <a:t>✔ Billing generation</a:t>
            </a:r>
            <a:endParaRPr sz="4800"/>
          </a:p>
          <a:p>
            <a:r>
              <a:rPr sz="4800"/>
              <a:t>✔ Trigger execution</a:t>
            </a:r>
            <a:endParaRPr sz="4800"/>
          </a:p>
          <a:p>
            <a:r>
              <a:rPr sz="4800"/>
              <a:t>✔ Dashboard reporting</a:t>
            </a:r>
            <a:endParaRPr sz="4800"/>
          </a:p>
          <a:p>
            <a:r>
              <a:rPr sz="4800"/>
              <a:t>✔ Room availability validation</a:t>
            </a:r>
            <a:endParaRPr sz="4800"/>
          </a:p>
        </p:txBody>
      </p:sp>
      <p:pic>
        <p:nvPicPr>
          <p:cNvPr id="7" name="Picture 6" descr="insert sample 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0" y="7604125"/>
            <a:ext cx="10337800" cy="5892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8288000" cy="1777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5400" b="1"/>
              <a:t>GOING FURTHER</a:t>
            </a:r>
            <a:endParaRPr lang="en-US" altLang="en-US" sz="5400" b="1"/>
          </a:p>
          <a:p>
            <a:pPr algn="ctr"/>
            <a:endParaRPr lang="en-US" altLang="en-US" sz="5400" b="1"/>
          </a:p>
          <a:p>
            <a:r>
              <a:rPr lang="en-US" altLang="en-US" sz="5400" b="1"/>
              <a:t>Innovation Component – Data Reporting Dashboard</a:t>
            </a:r>
            <a:endParaRPr lang="en-US" altLang="en-US" sz="5400" b="1"/>
          </a:p>
          <a:p>
            <a:r>
              <a:rPr lang="en-US" altLang="en-US" sz="5400" b="1"/>
              <a:t>Dashboard Features</a:t>
            </a:r>
            <a:endParaRPr lang="en-US" altLang="en-US" sz="5400" b="1"/>
          </a:p>
          <a:p>
            <a:endParaRPr lang="en-US" altLang="en-US" sz="5400" b="1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Room Occupancy Analysis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Monthly Revenue Reports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Reservation Statistics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Payment Status Tracking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Guest Activity Reports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Room Performance Analysis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algn="l"/>
            <a:r>
              <a:rPr lang="en-US" altLang="en-US" sz="5400" b="1"/>
              <a:t>Benefits</a:t>
            </a:r>
            <a:endParaRPr lang="en-US" altLang="en-US" sz="5400" b="1"/>
          </a:p>
          <a:p>
            <a:pPr algn="l"/>
            <a:endParaRPr lang="en-US" altLang="en-US" sz="5400" b="1"/>
          </a:p>
          <a:p>
            <a:pPr marL="914400" indent="-914400">
              <a:buAutoNum type="arabicPeriod"/>
            </a:pPr>
            <a:r>
              <a:rPr lang="en-US" altLang="en-US" sz="4800"/>
              <a:t>Supports management decisions.</a:t>
            </a:r>
            <a:endParaRPr lang="en-US" altLang="en-US" sz="4800"/>
          </a:p>
          <a:p>
            <a:pPr marL="914400" indent="-914400">
              <a:buAutoNum type="arabicPeriod"/>
            </a:pPr>
            <a:r>
              <a:rPr lang="en-US" altLang="en-US" sz="4800"/>
              <a:t>Provides real-time hotel performance analysis.</a:t>
            </a:r>
            <a:endParaRPr lang="en-US" altLang="en-US" sz="4800"/>
          </a:p>
          <a:p>
            <a:pPr marL="914400" indent="-914400">
              <a:buAutoNum type="arabicPeriod"/>
            </a:pPr>
            <a:r>
              <a:rPr lang="en-US" altLang="en-US" sz="4800"/>
              <a:t>Improves operational efficiency.</a:t>
            </a:r>
            <a:endParaRPr lang="en-US" altLang="en-US" sz="4800"/>
          </a:p>
          <a:p>
            <a:endParaRPr lang="en-US" altLang="en-US" sz="4800"/>
          </a:p>
          <a:p>
            <a:endParaRPr lang="en-US" altLang="en-US" sz="4800"/>
          </a:p>
        </p:txBody>
      </p:sp>
      <p:pic>
        <p:nvPicPr>
          <p:cNvPr id="5" name="Picture 4" descr="create view vw_guest_report_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" y="13338810"/>
            <a:ext cx="8037195" cy="4011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-635" y="0"/>
            <a:ext cx="18289270" cy="18288635"/>
          </a:xfrm>
          <a:prstGeom prst="rect">
            <a:avLst/>
          </a:prstGeom>
        </p:spPr>
        <p:txBody>
          <a:bodyPr>
            <a:noAutofit/>
          </a:bodyPr>
          <a:p>
            <a:pPr algn="l">
              <a:spcAft>
                <a:spcPct val="60000"/>
              </a:spcAft>
            </a:pPr>
            <a:r>
              <a:rPr sz="6000" b="1"/>
              <a:t>WRAPPING UP</a:t>
            </a:r>
            <a:endParaRPr sz="6000" b="1"/>
          </a:p>
          <a:p>
            <a:pPr algn="l">
              <a:spcAft>
                <a:spcPct val="60000"/>
              </a:spcAft>
            </a:pPr>
            <a:r>
              <a:rPr sz="5400" b="1"/>
              <a:t>Conclusion</a:t>
            </a:r>
            <a:endParaRPr sz="5400" b="1"/>
          </a:p>
          <a:p>
            <a:pPr algn="l">
              <a:spcAft>
                <a:spcPct val="60000"/>
              </a:spcAft>
            </a:pPr>
            <a:r>
              <a:rPr sz="4800" b="1"/>
              <a:t>Project Summary</a:t>
            </a:r>
            <a:endParaRPr sz="4800" b="1"/>
          </a:p>
          <a:p>
            <a:pPr algn="l">
              <a:buFont typeface="Arial" panose="020B0604020202020204"/>
              <a:buChar char="•"/>
            </a:pPr>
            <a:r>
              <a:rPr sz="4800"/>
              <a:t>Developed a complete hotel database system using Microsoft SQL Server.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Automated reservations, billing, payments, and reporting.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Enforced business rules using triggers and constraints.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Implemented procedures, functions, and views.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Created a Data Reporting Dashboard for analysis.</a:t>
            </a:r>
            <a:endParaRPr sz="4800"/>
          </a:p>
          <a:p>
            <a:pPr algn="l">
              <a:buFont typeface="Arial" panose="020B0604020202020204"/>
              <a:buChar char="•"/>
            </a:pPr>
            <a:endParaRPr sz="4800"/>
          </a:p>
          <a:p>
            <a:pPr algn="l">
              <a:buFont typeface="Arial" panose="020B0604020202020204"/>
              <a:buChar char="•"/>
            </a:pPr>
            <a:endParaRPr sz="4800"/>
          </a:p>
          <a:p>
            <a:pPr algn="l">
              <a:spcAft>
                <a:spcPct val="60000"/>
              </a:spcAft>
            </a:pPr>
            <a:r>
              <a:rPr sz="5400" b="1"/>
              <a:t>Future Enhancements</a:t>
            </a:r>
            <a:endParaRPr sz="5400" b="1"/>
          </a:p>
          <a:p>
            <a:pPr algn="l">
              <a:buFont typeface="Arial" panose="020B0604020202020204"/>
              <a:buChar char="•"/>
            </a:pPr>
            <a:r>
              <a:rPr sz="4800"/>
              <a:t>Online booking platform.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Mobile application integration.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AI-based customer recommendations.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Advanced analytics and forecasting.</a:t>
            </a: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 algn="l">
              <a:spcAft>
                <a:spcPct val="60000"/>
              </a:spcAft>
            </a:pPr>
            <a:r>
              <a:rPr sz="9600" b="1"/>
              <a:t>THANK YOU</a:t>
            </a:r>
            <a:r>
              <a:rPr lang="en-US" sz="9600" b="1"/>
              <a:t>!!!!!!</a:t>
            </a:r>
            <a:endParaRPr lang="en-US" sz="9600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3319</Words>
  <Application>WPS Presentation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AND HOSPITALITY</dc:title>
  <dc:creator>!_DORCAS_!</dc:creator>
  <cp:lastModifiedBy>Itwitaho Dorcas</cp:lastModifiedBy>
  <cp:revision>1</cp:revision>
  <dcterms:created xsi:type="dcterms:W3CDTF">2026-07-15T06:49:53Z</dcterms:created>
  <dcterms:modified xsi:type="dcterms:W3CDTF">2026-07-15T06:49:53Z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63D54F168348473E8EC702A44E360C73_11</vt:lpwstr>
  </property>
</Properties>
</file>